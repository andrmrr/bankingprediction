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6858000" cy="9144000"/>
  <p:embeddedFontLst>
    <p:embeddedFont>
      <p:font typeface="Roboto"/>
      <p:regular r:id="rId44"/>
      <p:bold r:id="rId45"/>
      <p:italic r:id="rId46"/>
      <p:boldItalic r:id="rId47"/>
    </p:embeddedFont>
    <p:embeddedFont>
      <p:font typeface="Garamond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jqNPTJPjxG2SGwx3MSwOScuBRr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AD2697-9DF6-4156-B071-8FEAC02B5772}">
  <a:tblStyle styleId="{3DAD2697-9DF6-4156-B071-8FEAC02B57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oboto-regular.fntdata"/><Relationship Id="rId43" Type="http://schemas.openxmlformats.org/officeDocument/2006/relationships/slide" Target="slides/slide38.xml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Garamond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Garamo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Garamond-boldItalic.fntdata"/><Relationship Id="rId50" Type="http://schemas.openxmlformats.org/officeDocument/2006/relationships/font" Target="fonts/Garamond-italic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af035b40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2af035b400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af035b400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2af035b400e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f035b400e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2af035b400e_0_2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5e216c410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25e216c410b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af035b400e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2af035b400e_0_4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8e93c6d5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28e93c6d583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8e93c6d58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28e93c6d583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af035b400e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2af035b400e_0_4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af101c28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2af101c28b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af12e2ecc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2af12e2ecc6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af12e2ec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2af12e2ecc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afdc95ebd4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afdc95ebd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afdc95ebd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afdc95ebd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afdc95ebd4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afdc95ebd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afdc95ebd4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afdc95ebd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af101c28b5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af101c28b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af0c9aec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g2af0c9aec4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af0c9aec43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af0c9aec4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af0c9aec43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af0c9aec4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af0c9aec43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af0c9aec4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afca4ca2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g2afca4ca2e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afca4ca2e4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afca4ca2e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Now we try to classify our outcome, first using rules and then using probabilities received from the LDA analysis.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afca4ca2e4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afca4ca2e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separation has some overlap between the y=yes and y=no, and we get an </a:t>
            </a:r>
            <a:r>
              <a:rPr lang="en-US"/>
              <a:t>accuracy of 72% , we plot histograms of the linear discriminant when y=no and when y=yes. Then we try to find a vertical line that best separates the response groups. We did it by taking the mean of the medians of the train dataset when y=yes and when y=no. So, we create a vertical line (our rule) at that point of the discriminant, that will separate those two groups: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afca4ca2e4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afca4ca2e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Linear Discriminant Analysis (LDA) is a classification and dimensionality reduction technique that makes assumptions about the underlying distribution of the data. There are three key assumptions or conditions associated with LDA when used for probability prediction: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afca4ca2e4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afca4ca2e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Ho: The data are multivariate normal.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afca4ca2e4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2afca4ca2e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Linear Discriminant Analysis (LDA) is a classification and dimensionality reduction technique that makes assumptions about the underlying distribution of the data. There are three key assumptions or conditions associated with LDA when used for probability prediction: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afdea5d8e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g2afdea5d8e4_1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4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aramond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" type="subTitle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17" name="Google Shape;17;p14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3"/>
          <p:cNvSpPr txBox="1"/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aramond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5458984" y="812799"/>
            <a:ext cx="5928344" cy="5294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2" type="body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2" name="Google Shape;32;p23"/>
          <p:cNvSpPr txBox="1"/>
          <p:nvPr>
            <p:ph idx="10" type="dt"/>
          </p:nvPr>
        </p:nvSpPr>
        <p:spPr>
          <a:xfrm>
            <a:off x="643464" y="6446520"/>
            <a:ext cx="35175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1" type="ftr"/>
          </p:nvPr>
        </p:nvSpPr>
        <p:spPr>
          <a:xfrm>
            <a:off x="5458983" y="6446520"/>
            <a:ext cx="533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aramond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39" name="Google Shape;39;p18"/>
          <p:cNvCxnSpPr/>
          <p:nvPr/>
        </p:nvCxnSpPr>
        <p:spPr>
          <a:xfrm>
            <a:off x="1207658" y="4485132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8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0"/>
          <p:cNvSpPr txBox="1"/>
          <p:nvPr>
            <p:ph idx="2" type="body"/>
          </p:nvPr>
        </p:nvSpPr>
        <p:spPr>
          <a:xfrm>
            <a:off x="1097280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0"/>
          <p:cNvSpPr txBox="1"/>
          <p:nvPr>
            <p:ph idx="4" type="body"/>
          </p:nvPr>
        </p:nvSpPr>
        <p:spPr>
          <a:xfrm>
            <a:off x="6515944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2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4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4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2" name="Google Shape;72;p24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aramond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24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" type="body"/>
          </p:nvPr>
        </p:nvSpPr>
        <p:spPr>
          <a:xfrm rot="5400000">
            <a:off x="4246035" y="-1040554"/>
            <a:ext cx="3760891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6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00"/>
              <a:buFont typeface="Garamond"/>
              <a:buNone/>
              <a:defRPr b="0" i="0" sz="53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  <a:defRPr b="0" i="0" sz="2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Calibri"/>
              <a:buChar char="◦"/>
              <a:defRPr b="0" i="0" sz="2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" name="Google Shape;12;p13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5" Type="http://schemas.openxmlformats.org/officeDocument/2006/relationships/image" Target="../media/image33.png"/><Relationship Id="rId6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94" name="Google Shape;94;p1"/>
          <p:cNvPicPr preferRelativeResize="0"/>
          <p:nvPr/>
        </p:nvPicPr>
        <p:blipFill rotWithShape="1">
          <a:blip r:embed="rId3">
            <a:alphaModFix/>
          </a:blip>
          <a:srcRect b="18137" l="0" r="0" t="25613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/>
          <p:nvPr/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lt1">
              <a:alpha val="9215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6" name="Google Shape;96;p1"/>
          <p:cNvSpPr txBox="1"/>
          <p:nvPr>
            <p:ph type="ctrTitle"/>
          </p:nvPr>
        </p:nvSpPr>
        <p:spPr>
          <a:xfrm>
            <a:off x="735791" y="3331444"/>
            <a:ext cx="64707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aramond"/>
              <a:buNone/>
            </a:pPr>
            <a:r>
              <a:rPr lang="en-US" sz="5400">
                <a:solidFill>
                  <a:schemeClr val="dk1"/>
                </a:solidFill>
              </a:rPr>
              <a:t>MVA PROJECT: Banking</a:t>
            </a:r>
            <a:endParaRPr sz="54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735791" y="4735799"/>
            <a:ext cx="64707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Andreja Andrejic, David Candela, Nayara Costa, Julie Oppedal, Alexandros Tremopoulos</a:t>
            </a:r>
            <a:endParaRPr sz="2900"/>
          </a:p>
        </p:txBody>
      </p:sp>
      <p:cxnSp>
        <p:nvCxnSpPr>
          <p:cNvPr id="98" name="Google Shape;98;p1"/>
          <p:cNvCxnSpPr/>
          <p:nvPr/>
        </p:nvCxnSpPr>
        <p:spPr>
          <a:xfrm>
            <a:off x="772429" y="4641183"/>
            <a:ext cx="6309360" cy="0"/>
          </a:xfrm>
          <a:prstGeom prst="straightConnector1">
            <a:avLst/>
          </a:prstGeom>
          <a:noFill/>
          <a:ln cap="flat" cmpd="sng" w="12700">
            <a:solidFill>
              <a:srgbClr val="3F3F3F">
                <a:alpha val="8901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2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Um conceito abstrato da genética" id="107" name="Google Shape;107;p2"/>
          <p:cNvPicPr preferRelativeResize="0"/>
          <p:nvPr/>
        </p:nvPicPr>
        <p:blipFill rotWithShape="1">
          <a:blip r:embed="rId3">
            <a:alphaModFix amt="35000"/>
          </a:blip>
          <a:srcRect b="19290" l="0" r="0" t="24459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aramond"/>
              <a:buNone/>
            </a:pPr>
            <a:r>
              <a:rPr lang="en-US" sz="8000">
                <a:solidFill>
                  <a:srgbClr val="FFFFFF"/>
                </a:solidFill>
              </a:rPr>
              <a:t>1.Introduction</a:t>
            </a:r>
            <a:endParaRPr/>
          </a:p>
        </p:txBody>
      </p:sp>
      <p:cxnSp>
        <p:nvCxnSpPr>
          <p:cNvPr id="109" name="Google Shape;109;p2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115" name="Google Shape;115;g2af035b400e_0_0"/>
          <p:cNvPicPr preferRelativeResize="0"/>
          <p:nvPr/>
        </p:nvPicPr>
        <p:blipFill rotWithShape="1">
          <a:blip r:embed="rId3">
            <a:alphaModFix amt="45000"/>
          </a:blip>
          <a:srcRect b="19288" l="0" r="0" t="24458"/>
          <a:stretch/>
        </p:blipFill>
        <p:spPr>
          <a:xfrm>
            <a:off x="-1" y="1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2af035b400e_0_0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00"/>
              <a:buFont typeface="Garamond"/>
              <a:buNone/>
            </a:pPr>
            <a:r>
              <a:rPr lang="en-US"/>
              <a:t>Data</a:t>
            </a:r>
            <a:endParaRPr/>
          </a:p>
        </p:txBody>
      </p:sp>
      <p:sp>
        <p:nvSpPr>
          <p:cNvPr id="117" name="Google Shape;117;g2af035b400e_0_0"/>
          <p:cNvSpPr txBox="1"/>
          <p:nvPr>
            <p:ph idx="1" type="body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300">
                <a:solidFill>
                  <a:schemeClr val="dk1"/>
                </a:solidFill>
              </a:rPr>
              <a:t>The Bank Marketing dataset compiles call information from a Portuguese banking institution with the objective of predicting whether a client will subscribe to a term deposit.</a:t>
            </a:r>
            <a:endParaRPr sz="2300">
              <a:solidFill>
                <a:schemeClr val="dk1"/>
              </a:solidFill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300"/>
              <a:buChar char=" "/>
            </a:pPr>
            <a:r>
              <a:rPr lang="en-US" sz="2300">
                <a:solidFill>
                  <a:schemeClr val="dk1"/>
                </a:solidFill>
              </a:rPr>
              <a:t>- 4521 records in the sample (bank.csv)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 "/>
            </a:pPr>
            <a:r>
              <a:rPr lang="en-US" sz="2300">
                <a:solidFill>
                  <a:schemeClr val="dk1"/>
                </a:solidFill>
              </a:rPr>
              <a:t>- 17 total variables</a:t>
            </a:r>
            <a:endParaRPr sz="3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122" name="Google Shape;122;g2af035b400e_0_91"/>
          <p:cNvPicPr preferRelativeResize="0"/>
          <p:nvPr/>
        </p:nvPicPr>
        <p:blipFill rotWithShape="1">
          <a:blip r:embed="rId3">
            <a:alphaModFix amt="45000"/>
          </a:blip>
          <a:srcRect b="19288" l="0" r="0" t="24458"/>
          <a:stretch/>
        </p:blipFill>
        <p:spPr>
          <a:xfrm>
            <a:off x="-1" y="10"/>
            <a:ext cx="12192000" cy="6857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af035b400e_0_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38" y="446626"/>
            <a:ext cx="10565925" cy="56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4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Um conceito abstrato da genética" id="131" name="Google Shape;131;p4"/>
          <p:cNvPicPr preferRelativeResize="0"/>
          <p:nvPr/>
        </p:nvPicPr>
        <p:blipFill rotWithShape="1">
          <a:blip r:embed="rId3">
            <a:alphaModFix amt="35000"/>
          </a:blip>
          <a:srcRect b="19290" l="0" r="0" t="24459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aramond"/>
              <a:buNone/>
            </a:pPr>
            <a:r>
              <a:rPr lang="en-US" sz="8000">
                <a:solidFill>
                  <a:srgbClr val="FFFFFF"/>
                </a:solidFill>
              </a:rPr>
              <a:t>2.1 Preprocessing</a:t>
            </a:r>
            <a:endParaRPr sz="3000"/>
          </a:p>
        </p:txBody>
      </p:sp>
      <p:cxnSp>
        <p:nvCxnSpPr>
          <p:cNvPr id="133" name="Google Shape;133;p4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139" name="Google Shape;139;g2af035b400e_0_291"/>
          <p:cNvPicPr preferRelativeResize="0"/>
          <p:nvPr/>
        </p:nvPicPr>
        <p:blipFill rotWithShape="1">
          <a:blip r:embed="rId3">
            <a:alphaModFix amt="45000"/>
          </a:blip>
          <a:srcRect b="19288" l="0" r="0" t="24458"/>
          <a:stretch/>
        </p:blipFill>
        <p:spPr>
          <a:xfrm>
            <a:off x="-1" y="1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2af035b400e_0_291"/>
          <p:cNvSpPr txBox="1"/>
          <p:nvPr>
            <p:ph type="title"/>
          </p:nvPr>
        </p:nvSpPr>
        <p:spPr>
          <a:xfrm>
            <a:off x="660625" y="188702"/>
            <a:ext cx="35004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47222"/>
              <a:buFont typeface="Garamond"/>
              <a:buNone/>
            </a:pPr>
            <a:r>
              <a:rPr lang="en-US"/>
              <a:t>Missing Values</a:t>
            </a:r>
            <a:endParaRPr/>
          </a:p>
        </p:txBody>
      </p:sp>
      <p:sp>
        <p:nvSpPr>
          <p:cNvPr id="141" name="Google Shape;141;g2af035b400e_0_291"/>
          <p:cNvSpPr txBox="1"/>
          <p:nvPr>
            <p:ph idx="1" type="body"/>
          </p:nvPr>
        </p:nvSpPr>
        <p:spPr>
          <a:xfrm>
            <a:off x="790684" y="4772049"/>
            <a:ext cx="5928300" cy="52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634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2af035b400e_0_291"/>
          <p:cNvSpPr txBox="1"/>
          <p:nvPr>
            <p:ph idx="2" type="body"/>
          </p:nvPr>
        </p:nvSpPr>
        <p:spPr>
          <a:xfrm>
            <a:off x="492925" y="755100"/>
            <a:ext cx="3668100" cy="264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Char char="●"/>
            </a:pPr>
            <a:r>
              <a:rPr lang="en-US">
                <a:solidFill>
                  <a:schemeClr val="lt1"/>
                </a:solidFill>
              </a:rPr>
              <a:t>pdays’ dropped -&gt; almost 82% with -1.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-US">
                <a:solidFill>
                  <a:schemeClr val="lt1"/>
                </a:solidFill>
              </a:rPr>
              <a:t>Impute ‘contact’ with MICE. 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Original : cellular -&gt;90,58% , telephone -&gt; 9.41%.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MICE. Original: cellular -&gt;90,68%, telephone -&gt;  9.31%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143" name="Google Shape;143;g2af035b400e_0_2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6475" y="188700"/>
            <a:ext cx="2679675" cy="21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2af035b400e_0_2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3000" y="149725"/>
            <a:ext cx="2581450" cy="21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af035b400e_0_291"/>
          <p:cNvSpPr txBox="1"/>
          <p:nvPr>
            <p:ph type="title"/>
          </p:nvPr>
        </p:nvSpPr>
        <p:spPr>
          <a:xfrm>
            <a:off x="576775" y="3661452"/>
            <a:ext cx="35004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47222"/>
              <a:buFont typeface="Garamond"/>
              <a:buNone/>
            </a:pPr>
            <a:r>
              <a:rPr lang="en-US"/>
              <a:t>Outliers</a:t>
            </a:r>
            <a:endParaRPr/>
          </a:p>
        </p:txBody>
      </p:sp>
      <p:sp>
        <p:nvSpPr>
          <p:cNvPr id="146" name="Google Shape;146;g2af035b400e_0_291"/>
          <p:cNvSpPr txBox="1"/>
          <p:nvPr>
            <p:ph idx="2" type="body"/>
          </p:nvPr>
        </p:nvSpPr>
        <p:spPr>
          <a:xfrm>
            <a:off x="260875" y="4364175"/>
            <a:ext cx="3668100" cy="215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>
                <a:solidFill>
                  <a:schemeClr val="lt1"/>
                </a:solidFill>
              </a:rPr>
              <a:t>Univariate, Mahalanobis distance, Adjusted Chi-Square Q-Q plot, Local Outlier Factor (LOF)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7" name="Google Shape;147;g2af035b400e_0_2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8975" y="3399300"/>
            <a:ext cx="3062075" cy="249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6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Um conceito abstrato da genética" id="155" name="Google Shape;155;p6"/>
          <p:cNvPicPr preferRelativeResize="0"/>
          <p:nvPr/>
        </p:nvPicPr>
        <p:blipFill rotWithShape="1">
          <a:blip r:embed="rId3">
            <a:alphaModFix amt="35000"/>
          </a:blip>
          <a:srcRect b="19290" l="0" r="0" t="24459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aramond"/>
              <a:buNone/>
            </a:pPr>
            <a:r>
              <a:rPr lang="en-US" sz="8000">
                <a:solidFill>
                  <a:srgbClr val="FFFFFF"/>
                </a:solidFill>
              </a:rPr>
              <a:t>3.Descriptive Analysis</a:t>
            </a:r>
            <a:endParaRPr sz="8000">
              <a:solidFill>
                <a:srgbClr val="FFFFFF"/>
              </a:solidFill>
            </a:endParaRPr>
          </a:p>
        </p:txBody>
      </p:sp>
      <p:cxnSp>
        <p:nvCxnSpPr>
          <p:cNvPr id="157" name="Google Shape;157;p6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163" name="Google Shape;163;p7"/>
          <p:cNvPicPr preferRelativeResize="0"/>
          <p:nvPr/>
        </p:nvPicPr>
        <p:blipFill rotWithShape="1">
          <a:blip r:embed="rId3">
            <a:alphaModFix amt="45000"/>
          </a:blip>
          <a:srcRect b="19290" l="0" r="0" t="24459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00"/>
              <a:buFont typeface="Garamond"/>
              <a:buNone/>
            </a:pPr>
            <a:r>
              <a:rPr lang="en-US"/>
              <a:t>Analysis of categorical features</a:t>
            </a:r>
            <a:endParaRPr/>
          </a:p>
        </p:txBody>
      </p:sp>
      <p:pic>
        <p:nvPicPr>
          <p:cNvPr id="165" name="Google Shape;16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350" y="2136050"/>
            <a:ext cx="5238375" cy="33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3725" y="2136050"/>
            <a:ext cx="5110615" cy="332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8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Um conceito abstrato da genética" id="174" name="Google Shape;174;p8"/>
          <p:cNvPicPr preferRelativeResize="0"/>
          <p:nvPr/>
        </p:nvPicPr>
        <p:blipFill rotWithShape="1">
          <a:blip r:embed="rId3">
            <a:alphaModFix amt="35000"/>
          </a:blip>
          <a:srcRect b="19290" l="0" r="0" t="24459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aramond"/>
              <a:buNone/>
            </a:pPr>
            <a:r>
              <a:rPr lang="en-US" sz="8000">
                <a:solidFill>
                  <a:srgbClr val="FFFFFF"/>
                </a:solidFill>
              </a:rPr>
              <a:t>4.PCA Analysis</a:t>
            </a:r>
            <a:endParaRPr sz="8000">
              <a:solidFill>
                <a:srgbClr val="FFFFFF"/>
              </a:solidFill>
            </a:endParaRPr>
          </a:p>
        </p:txBody>
      </p:sp>
      <p:cxnSp>
        <p:nvCxnSpPr>
          <p:cNvPr id="176" name="Google Shape;176;p8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182" name="Google Shape;182;p27"/>
          <p:cNvPicPr preferRelativeResize="0"/>
          <p:nvPr/>
        </p:nvPicPr>
        <p:blipFill rotWithShape="1">
          <a:blip r:embed="rId3">
            <a:alphaModFix amt="45000"/>
          </a:blip>
          <a:srcRect b="19290" l="0" r="0" t="24459"/>
          <a:stretch/>
        </p:blipFill>
        <p:spPr>
          <a:xfrm>
            <a:off x="0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00"/>
              <a:buFont typeface="Garamond"/>
              <a:buNone/>
            </a:pPr>
            <a:r>
              <a:rPr lang="en-US"/>
              <a:t>Choosing the number of dimensions</a:t>
            </a:r>
            <a:endParaRPr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85" name="Google Shape;18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320" y="2108201"/>
            <a:ext cx="10119360" cy="3760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190" name="Google Shape;190;p32"/>
          <p:cNvPicPr preferRelativeResize="0"/>
          <p:nvPr/>
        </p:nvPicPr>
        <p:blipFill rotWithShape="1">
          <a:blip r:embed="rId3">
            <a:alphaModFix amt="45000"/>
          </a:blip>
          <a:srcRect b="19290" l="0" r="0" t="24459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2"/>
          <p:cNvSpPr txBox="1"/>
          <p:nvPr>
            <p:ph type="title"/>
          </p:nvPr>
        </p:nvSpPr>
        <p:spPr>
          <a:xfrm>
            <a:off x="1097275" y="286601"/>
            <a:ext cx="100584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00"/>
              <a:buFont typeface="Garamond"/>
              <a:buNone/>
            </a:pPr>
            <a:r>
              <a:rPr lang="en-US"/>
              <a:t>PCA plot 1</a:t>
            </a:r>
            <a:endParaRPr/>
          </a:p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93" name="Google Shape;19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2275" y="1440125"/>
            <a:ext cx="7847426" cy="44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198" name="Google Shape;198;p33"/>
          <p:cNvPicPr preferRelativeResize="0"/>
          <p:nvPr/>
        </p:nvPicPr>
        <p:blipFill rotWithShape="1">
          <a:blip r:embed="rId3">
            <a:alphaModFix amt="45000"/>
          </a:blip>
          <a:srcRect b="19290" l="0" r="0" t="24459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Garamond"/>
              <a:buNone/>
            </a:pPr>
            <a:r>
              <a:rPr lang="en-US"/>
              <a:t>PCA plot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Garamond"/>
              <a:buNone/>
            </a:pPr>
            <a:r>
              <a:t/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01" name="Google Shape;20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6413" y="1915775"/>
            <a:ext cx="7859176" cy="44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0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Um conceito abstrato da genética" id="209" name="Google Shape;209;p10"/>
          <p:cNvPicPr preferRelativeResize="0"/>
          <p:nvPr/>
        </p:nvPicPr>
        <p:blipFill rotWithShape="1">
          <a:blip r:embed="rId3">
            <a:alphaModFix amt="35000"/>
          </a:blip>
          <a:srcRect b="19290" l="0" r="0" t="24459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aramond"/>
              <a:buNone/>
            </a:pPr>
            <a:r>
              <a:rPr lang="en-US" sz="8000">
                <a:solidFill>
                  <a:srgbClr val="FFFFFF"/>
                </a:solidFill>
              </a:rPr>
              <a:t>5.MCA Analysis</a:t>
            </a:r>
            <a:endParaRPr/>
          </a:p>
        </p:txBody>
      </p:sp>
      <p:cxnSp>
        <p:nvCxnSpPr>
          <p:cNvPr id="211" name="Google Shape;211;p10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1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217" name="Google Shape;217;g25e216c410b_3_0"/>
          <p:cNvPicPr preferRelativeResize="0"/>
          <p:nvPr/>
        </p:nvPicPr>
        <p:blipFill rotWithShape="1">
          <a:blip r:embed="rId3">
            <a:alphaModFix amt="45000"/>
          </a:blip>
          <a:srcRect b="19288" l="0" r="0" t="24458"/>
          <a:stretch/>
        </p:blipFill>
        <p:spPr>
          <a:xfrm>
            <a:off x="0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25e216c410b_3_0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00"/>
              <a:buFont typeface="Garamond"/>
              <a:buNone/>
            </a:pPr>
            <a:r>
              <a:rPr lang="en-US"/>
              <a:t>MCA plot</a:t>
            </a:r>
            <a:endParaRPr/>
          </a:p>
        </p:txBody>
      </p:sp>
      <p:pic>
        <p:nvPicPr>
          <p:cNvPr id="219" name="Google Shape;219;g25e216c410b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5650" y="1914150"/>
            <a:ext cx="7870950" cy="448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224" name="Google Shape;224;p11"/>
          <p:cNvPicPr preferRelativeResize="0"/>
          <p:nvPr/>
        </p:nvPicPr>
        <p:blipFill rotWithShape="1">
          <a:blip r:embed="rId3">
            <a:alphaModFix amt="45000"/>
          </a:blip>
          <a:srcRect b="19290" l="0" r="0" t="24459"/>
          <a:stretch/>
        </p:blipFill>
        <p:spPr>
          <a:xfrm>
            <a:off x="0" y="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00"/>
              <a:buFont typeface="Garamond"/>
              <a:buNone/>
            </a:pPr>
            <a:r>
              <a:rPr lang="en-US"/>
              <a:t>Contribution</a:t>
            </a:r>
            <a:endParaRPr/>
          </a:p>
        </p:txBody>
      </p:sp>
      <p:pic>
        <p:nvPicPr>
          <p:cNvPr id="226" name="Google Shape;22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1250" y="2123900"/>
            <a:ext cx="7509509" cy="411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af035b400e_0_41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g2af035b400e_0_410"/>
          <p:cNvCxnSpPr/>
          <p:nvPr/>
        </p:nvCxnSpPr>
        <p:spPr>
          <a:xfrm>
            <a:off x="1207658" y="4474741"/>
            <a:ext cx="987540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g2af035b400e_0_4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Um conceito abstrato da genética" id="234" name="Google Shape;234;g2af035b400e_0_410"/>
          <p:cNvPicPr preferRelativeResize="0"/>
          <p:nvPr/>
        </p:nvPicPr>
        <p:blipFill rotWithShape="1">
          <a:blip r:embed="rId3">
            <a:alphaModFix amt="35000"/>
          </a:blip>
          <a:srcRect b="19288" l="0" r="0" t="24458"/>
          <a:stretch/>
        </p:blipFill>
        <p:spPr>
          <a:xfrm>
            <a:off x="-1" y="1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2af035b400e_0_410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aramond"/>
              <a:buNone/>
            </a:pPr>
            <a:r>
              <a:rPr lang="en-US" sz="8000">
                <a:solidFill>
                  <a:srgbClr val="FFFFFF"/>
                </a:solidFill>
              </a:rPr>
              <a:t>6</a:t>
            </a:r>
            <a:r>
              <a:rPr lang="en-US" sz="8000">
                <a:solidFill>
                  <a:srgbClr val="FFFFFF"/>
                </a:solidFill>
              </a:rPr>
              <a:t>.Association Rules</a:t>
            </a:r>
            <a:endParaRPr/>
          </a:p>
        </p:txBody>
      </p:sp>
      <p:cxnSp>
        <p:nvCxnSpPr>
          <p:cNvPr id="236" name="Google Shape;236;g2af035b400e_0_410"/>
          <p:cNvCxnSpPr/>
          <p:nvPr/>
        </p:nvCxnSpPr>
        <p:spPr>
          <a:xfrm>
            <a:off x="1207658" y="4474741"/>
            <a:ext cx="987540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g2af035b400e_0_41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>
              <a:alpha val="941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242" name="Google Shape;242;g28e93c6d583_0_1"/>
          <p:cNvPicPr preferRelativeResize="0"/>
          <p:nvPr/>
        </p:nvPicPr>
        <p:blipFill rotWithShape="1">
          <a:blip r:embed="rId3">
            <a:alphaModFix amt="45000"/>
          </a:blip>
          <a:srcRect b="19288" l="0" r="0" t="24458"/>
          <a:stretch/>
        </p:blipFill>
        <p:spPr>
          <a:xfrm>
            <a:off x="-37476" y="1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3" name="Google Shape;243;g28e93c6d583_0_1"/>
          <p:cNvGraphicFramePr/>
          <p:nvPr/>
        </p:nvGraphicFramePr>
        <p:xfrm>
          <a:off x="2170800" y="44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{3DAD2697-9DF6-4156-B071-8FEAC02B5772}</a:tableStyleId>
              </a:tblPr>
              <a:tblGrid>
                <a:gridCol w="2054225"/>
                <a:gridCol w="1865475"/>
                <a:gridCol w="1215350"/>
                <a:gridCol w="1498450"/>
                <a:gridCol w="1141950"/>
              </a:tblGrid>
              <a:tr h="46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lhs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rhs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support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confidence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lift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{job=management}=&gt;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{education=tertiary}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0.174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0.8121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2.719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6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{month=aug}         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{housing=no}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0.1125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0.8041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1.852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6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{month=may}       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{housing=yes}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0.2696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0.8719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1.5404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4" name="Google Shape;244;g28e93c6d583_0_1"/>
          <p:cNvSpPr txBox="1"/>
          <p:nvPr>
            <p:ph idx="4294967295" type="body"/>
          </p:nvPr>
        </p:nvSpPr>
        <p:spPr>
          <a:xfrm>
            <a:off x="633450" y="3085925"/>
            <a:ext cx="4068600" cy="25692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5814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Grid-search of support and confidence. Lift value &gt; 1.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5814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Redundant rules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5814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support &gt;= 0.1, confidence &gt;= 0.8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5" name="Google Shape;245;g28e93c6d583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6625" y="2676325"/>
            <a:ext cx="6543449" cy="348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250" name="Google Shape;250;g28e93c6d583_0_12"/>
          <p:cNvPicPr preferRelativeResize="0"/>
          <p:nvPr/>
        </p:nvPicPr>
        <p:blipFill rotWithShape="1">
          <a:blip r:embed="rId3">
            <a:alphaModFix amt="45000"/>
          </a:blip>
          <a:srcRect b="19288" l="0" r="0" t="24458"/>
          <a:stretch/>
        </p:blipFill>
        <p:spPr>
          <a:xfrm>
            <a:off x="-1" y="1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1" name="Google Shape;251;g28e93c6d583_0_12"/>
          <p:cNvGraphicFramePr/>
          <p:nvPr/>
        </p:nvGraphicFramePr>
        <p:xfrm>
          <a:off x="257850" y="44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{3DAD2697-9DF6-4156-B071-8FEAC02B5772}</a:tableStyleId>
              </a:tblPr>
              <a:tblGrid>
                <a:gridCol w="2007225"/>
                <a:gridCol w="916275"/>
                <a:gridCol w="1016125"/>
                <a:gridCol w="1183850"/>
                <a:gridCol w="932225"/>
              </a:tblGrid>
              <a:tr h="46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lhs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rhs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support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confidence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lift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{loan=no}  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           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{y=yes}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0.1057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0.1248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1.082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6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{default=no}         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{y=yes}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0.1132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0.1152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0.9995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6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{contact=cellular} 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{y=yes}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0.1035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0.1150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0.9985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52" name="Google Shape;252;g28e93c6d583_0_12"/>
          <p:cNvGraphicFramePr/>
          <p:nvPr/>
        </p:nvGraphicFramePr>
        <p:xfrm>
          <a:off x="2643825" y="319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{3DAD2697-9DF6-4156-B071-8FEAC02B5772}</a:tableStyleId>
              </a:tblPr>
              <a:tblGrid>
                <a:gridCol w="2007225"/>
                <a:gridCol w="916275"/>
                <a:gridCol w="1016125"/>
                <a:gridCol w="1183850"/>
                <a:gridCol w="932225"/>
              </a:tblGrid>
              <a:tr h="46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lhs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rhs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support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confidence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lift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{loan=yes}            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{y=no}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0.1433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0.9377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1.0599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6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{month=may}       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{y=no}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0.2886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0.9334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1.0550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6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{job=blue-collar} 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{y=no}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0.1939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0.9270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1.0478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6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{housing=yes}     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{y=no}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0.5173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0.9140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1.0330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6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{month=jul}       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{y=no}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0.1426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0.9135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1.0325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3" name="Google Shape;253;g28e93c6d583_0_12"/>
          <p:cNvSpPr txBox="1"/>
          <p:nvPr/>
        </p:nvSpPr>
        <p:spPr>
          <a:xfrm>
            <a:off x="6962450" y="618700"/>
            <a:ext cx="26745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Filter by ‘y’ = ‘yes’. Not relevant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4" name="Google Shape;254;g28e93c6d583_0_12"/>
          <p:cNvSpPr txBox="1"/>
          <p:nvPr/>
        </p:nvSpPr>
        <p:spPr>
          <a:xfrm>
            <a:off x="140525" y="3392050"/>
            <a:ext cx="31107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Filter by ‘y’ = ‘no’.  Promising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●"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Unbalanced data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5" name="Google Shape;255;g28e93c6d583_0_12"/>
          <p:cNvSpPr txBox="1"/>
          <p:nvPr/>
        </p:nvSpPr>
        <p:spPr>
          <a:xfrm>
            <a:off x="9336975" y="3329725"/>
            <a:ext cx="267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Loan most significant.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260" name="Google Shape;260;g2af035b400e_0_466"/>
          <p:cNvPicPr preferRelativeResize="0"/>
          <p:nvPr/>
        </p:nvPicPr>
        <p:blipFill rotWithShape="1">
          <a:blip r:embed="rId3">
            <a:alphaModFix amt="45000"/>
          </a:blip>
          <a:srcRect b="19288" l="0" r="0" t="24458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2af035b400e_0_466"/>
          <p:cNvSpPr txBox="1"/>
          <p:nvPr/>
        </p:nvSpPr>
        <p:spPr>
          <a:xfrm>
            <a:off x="1363225" y="1268850"/>
            <a:ext cx="640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ECLAT (Equivalence Class Transformation)</a:t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2" name="Google Shape;262;g2af035b400e_0_466"/>
          <p:cNvSpPr txBox="1"/>
          <p:nvPr/>
        </p:nvSpPr>
        <p:spPr>
          <a:xfrm>
            <a:off x="357225" y="2318175"/>
            <a:ext cx="103491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●"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 priori -&gt; itemsets by joining and pruning sets.  Eclat -&gt; intersecting transactions containing each item.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●"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ECLAT no associations with ‘y=yes’.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●"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y=no: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3" name="Google Shape;263;g2af035b400e_0_466"/>
          <p:cNvSpPr txBox="1"/>
          <p:nvPr/>
        </p:nvSpPr>
        <p:spPr>
          <a:xfrm>
            <a:off x="435550" y="4193800"/>
            <a:ext cx="4671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●"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Similarities in rules + metrics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●"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Adding items lhs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aphicFrame>
        <p:nvGraphicFramePr>
          <p:cNvPr id="264" name="Google Shape;264;g2af035b400e_0_466"/>
          <p:cNvGraphicFramePr/>
          <p:nvPr/>
        </p:nvGraphicFramePr>
        <p:xfrm>
          <a:off x="4352625" y="276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{3DAD2697-9DF6-4156-B071-8FEAC02B5772}</a:tableStyleId>
              </a:tblPr>
              <a:tblGrid>
                <a:gridCol w="2488625"/>
                <a:gridCol w="1136025"/>
                <a:gridCol w="1259825"/>
                <a:gridCol w="1467775"/>
                <a:gridCol w="1155800"/>
              </a:tblGrid>
              <a:tr h="41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lhs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rhs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support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confidence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lift</a:t>
                      </a:r>
                      <a:endParaRPr b="1"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3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{month=may}                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{y=no}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0.2886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0.9334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1.0550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59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{marital=married, housing=yes}                  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{y=no}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0.3324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0.9249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1.0453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59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{education=secondary, housing=yes}                  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{y=no}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0.2915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0.9216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1.0417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1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{housing=yes}                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{y=no}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0.5173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0.9140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1.0330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81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{marital=married, education= secondary}   =&gt;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{y=no}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0.2875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0.9110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1.0296</a:t>
                      </a:r>
                      <a:endParaRPr sz="16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af101c28b5_0_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g2af101c28b5_0_0"/>
          <p:cNvCxnSpPr/>
          <p:nvPr/>
        </p:nvCxnSpPr>
        <p:spPr>
          <a:xfrm>
            <a:off x="1207658" y="4474741"/>
            <a:ext cx="987540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g2af101c28b5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Um conceito abstrato da genética" id="272" name="Google Shape;272;g2af101c28b5_0_0"/>
          <p:cNvPicPr preferRelativeResize="0"/>
          <p:nvPr/>
        </p:nvPicPr>
        <p:blipFill rotWithShape="1">
          <a:blip r:embed="rId3">
            <a:alphaModFix amt="35000"/>
          </a:blip>
          <a:srcRect b="19288" l="0" r="0" t="24458"/>
          <a:stretch/>
        </p:blipFill>
        <p:spPr>
          <a:xfrm>
            <a:off x="-1" y="1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2af101c28b5_0_0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aramond"/>
              <a:buNone/>
            </a:pPr>
            <a:r>
              <a:rPr lang="en-US" sz="8000">
                <a:solidFill>
                  <a:srgbClr val="FFFFFF"/>
                </a:solidFill>
              </a:rPr>
              <a:t>7</a:t>
            </a:r>
            <a:r>
              <a:rPr lang="en-US" sz="8000">
                <a:solidFill>
                  <a:srgbClr val="FFFFFF"/>
                </a:solidFill>
              </a:rPr>
              <a:t>. Clustering</a:t>
            </a:r>
            <a:endParaRPr/>
          </a:p>
        </p:txBody>
      </p:sp>
      <p:cxnSp>
        <p:nvCxnSpPr>
          <p:cNvPr id="274" name="Google Shape;274;g2af101c28b5_0_0"/>
          <p:cNvCxnSpPr/>
          <p:nvPr/>
        </p:nvCxnSpPr>
        <p:spPr>
          <a:xfrm>
            <a:off x="1207658" y="4474741"/>
            <a:ext cx="987540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g2af101c28b5_0_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>
              <a:alpha val="941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 conceito abstrato da genética" id="280" name="Google Shape;280;g2af12e2ecc6_0_16"/>
          <p:cNvPicPr preferRelativeResize="0"/>
          <p:nvPr/>
        </p:nvPicPr>
        <p:blipFill rotWithShape="1">
          <a:blip r:embed="rId3">
            <a:alphaModFix amt="45000"/>
          </a:blip>
          <a:srcRect b="19288" l="0" r="0" t="24458"/>
          <a:stretch/>
        </p:blipFill>
        <p:spPr>
          <a:xfrm>
            <a:off x="-1" y="1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2af12e2ecc6_0_16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00"/>
              <a:buFont typeface="Garamond"/>
              <a:buNone/>
            </a:pPr>
            <a:r>
              <a:rPr lang="en-US"/>
              <a:t>Dendrogram</a:t>
            </a:r>
            <a:endParaRPr/>
          </a:p>
        </p:txBody>
      </p:sp>
      <p:sp>
        <p:nvSpPr>
          <p:cNvPr id="282" name="Google Shape;282;g2af12e2ecc6_0_16"/>
          <p:cNvSpPr txBox="1"/>
          <p:nvPr>
            <p:ph idx="1" type="body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83" name="Google Shape;283;g2af12e2ecc6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9200" y="1926700"/>
            <a:ext cx="8873600" cy="447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af12e2ecc6_0_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g2af12e2ecc6_0_0"/>
          <p:cNvCxnSpPr/>
          <p:nvPr/>
        </p:nvCxnSpPr>
        <p:spPr>
          <a:xfrm>
            <a:off x="1207658" y="4474741"/>
            <a:ext cx="987540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g2af12e2ecc6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Um conceito abstrato da genética" id="291" name="Google Shape;291;g2af12e2ecc6_0_0"/>
          <p:cNvPicPr preferRelativeResize="0"/>
          <p:nvPr/>
        </p:nvPicPr>
        <p:blipFill rotWithShape="1">
          <a:blip r:embed="rId3">
            <a:alphaModFix amt="35000"/>
          </a:blip>
          <a:srcRect b="19288" l="0" r="0" t="24458"/>
          <a:stretch/>
        </p:blipFill>
        <p:spPr>
          <a:xfrm>
            <a:off x="-1" y="1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2af12e2ecc6_0_0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aramond"/>
              <a:buNone/>
            </a:pPr>
            <a:r>
              <a:rPr lang="en-US" sz="8000">
                <a:solidFill>
                  <a:srgbClr val="FFFFFF"/>
                </a:solidFill>
              </a:rPr>
              <a:t>8</a:t>
            </a:r>
            <a:r>
              <a:rPr lang="en-US" sz="8000">
                <a:solidFill>
                  <a:srgbClr val="FFFFFF"/>
                </a:solidFill>
              </a:rPr>
              <a:t>. Profiling of clusters</a:t>
            </a:r>
            <a:endParaRPr/>
          </a:p>
        </p:txBody>
      </p:sp>
      <p:cxnSp>
        <p:nvCxnSpPr>
          <p:cNvPr id="293" name="Google Shape;293;g2af12e2ecc6_0_0"/>
          <p:cNvCxnSpPr/>
          <p:nvPr/>
        </p:nvCxnSpPr>
        <p:spPr>
          <a:xfrm>
            <a:off x="1207658" y="4474741"/>
            <a:ext cx="987540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g2af12e2ecc6_0_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>
              <a:alpha val="941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afdc95ebd4_0_7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Variables</a:t>
            </a:r>
            <a:endParaRPr/>
          </a:p>
        </p:txBody>
      </p:sp>
      <p:sp>
        <p:nvSpPr>
          <p:cNvPr id="300" name="Google Shape;300;g2afdc95ebd4_0_7"/>
          <p:cNvSpPr txBox="1"/>
          <p:nvPr>
            <p:ph idx="1" type="body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Numerical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Use of one-way ANOVA and Kruskal-Wallis tests.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Very low p-values indicating strong differences across clusters.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Specific cluster-based p-value analysis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Categorical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Application of Chi-squared tests.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Extremely low p-values revealing significant distribution differences.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Cluster-specific p-value calculations.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afdc95ebd4_0_12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2afdc95ebd4_0_12"/>
          <p:cNvSpPr txBox="1"/>
          <p:nvPr>
            <p:ph idx="1" type="body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g2afdc95ebd4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0" y="0"/>
            <a:ext cx="64770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2afdc95ebd4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8625" y="2933700"/>
            <a:ext cx="6169750" cy="30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2afdc95ebd4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5697774" cy="3185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2afdc95ebd4_0_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1050" y="3086100"/>
            <a:ext cx="5746950" cy="29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afdc95ebd4_0_44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2afdc95ebd4_0_44"/>
          <p:cNvSpPr txBox="1"/>
          <p:nvPr>
            <p:ph idx="1" type="body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g2afdc95ebd4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9375" y="3038475"/>
            <a:ext cx="5186524" cy="324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2afdc95ebd4_0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100" y="3096088"/>
            <a:ext cx="5400675" cy="31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2afdc95ebd4_0_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162400"/>
            <a:ext cx="5697774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2afdc95ebd4_0_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775" y="286600"/>
            <a:ext cx="5597023" cy="280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afdc95ebd4_0_58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Engagement</a:t>
            </a:r>
            <a:endParaRPr/>
          </a:p>
        </p:txBody>
      </p:sp>
      <p:sp>
        <p:nvSpPr>
          <p:cNvPr id="326" name="Google Shape;326;g2afdc95ebd4_0_58"/>
          <p:cNvSpPr txBox="1"/>
          <p:nvPr>
            <p:ph idx="1" type="body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g2afdc95ebd4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900" y="2108200"/>
            <a:ext cx="5400675" cy="40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g2afdc95ebd4_0_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5175" y="2108200"/>
            <a:ext cx="5887075" cy="376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af101c28b5_0_10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Cluster Profiles and Analysis</a:t>
            </a:r>
            <a:endParaRPr/>
          </a:p>
        </p:txBody>
      </p:sp>
      <p:sp>
        <p:nvSpPr>
          <p:cNvPr id="334" name="Google Shape;334;g2af101c28b5_0_10"/>
          <p:cNvSpPr txBox="1"/>
          <p:nvPr>
            <p:ph idx="1" type="body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Cluster</a:t>
            </a:r>
            <a:r>
              <a:rPr lang="en-US"/>
              <a:t> 1: Married professionals with past campaign success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Cluster 2: Unique financial traits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Cluster 3: </a:t>
            </a:r>
            <a:r>
              <a:rPr lang="en-US"/>
              <a:t>Engaged group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Cluster 4: Y</a:t>
            </a:r>
            <a:r>
              <a:rPr lang="en-US"/>
              <a:t>oung independents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Cluster 5: </a:t>
            </a:r>
            <a:r>
              <a:rPr lang="en-US"/>
              <a:t>Experienced traditionalists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af0c9aec43_0_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g2af0c9aec43_0_0"/>
          <p:cNvCxnSpPr/>
          <p:nvPr/>
        </p:nvCxnSpPr>
        <p:spPr>
          <a:xfrm>
            <a:off x="1207658" y="4474741"/>
            <a:ext cx="987540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g2af0c9aec43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Um conceito abstrato da genética" id="342" name="Google Shape;342;g2af0c9aec43_0_0"/>
          <p:cNvPicPr preferRelativeResize="0"/>
          <p:nvPr/>
        </p:nvPicPr>
        <p:blipFill rotWithShape="1">
          <a:blip r:embed="rId3">
            <a:alphaModFix amt="35000"/>
          </a:blip>
          <a:srcRect b="19288" l="0" r="0" t="24458"/>
          <a:stretch/>
        </p:blipFill>
        <p:spPr>
          <a:xfrm>
            <a:off x="-1" y="1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2af0c9aec43_0_0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aramond"/>
              <a:buNone/>
            </a:pPr>
            <a:r>
              <a:rPr lang="en-US" sz="8000">
                <a:solidFill>
                  <a:srgbClr val="FFFFFF"/>
                </a:solidFill>
              </a:rPr>
              <a:t>9. Decision Trees</a:t>
            </a:r>
            <a:endParaRPr/>
          </a:p>
        </p:txBody>
      </p:sp>
      <p:cxnSp>
        <p:nvCxnSpPr>
          <p:cNvPr id="344" name="Google Shape;344;g2af0c9aec43_0_0"/>
          <p:cNvCxnSpPr/>
          <p:nvPr/>
        </p:nvCxnSpPr>
        <p:spPr>
          <a:xfrm>
            <a:off x="1207658" y="4474741"/>
            <a:ext cx="987540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g2af0c9aec43_0_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>
              <a:alpha val="941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af0c9aec43_0_10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Tree apriori</a:t>
            </a:r>
            <a:endParaRPr/>
          </a:p>
        </p:txBody>
      </p:sp>
      <p:pic>
        <p:nvPicPr>
          <p:cNvPr id="351" name="Google Shape;351;g2af0c9aec43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825" y="2108200"/>
            <a:ext cx="6200843" cy="376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2af0c9aec43_0_10"/>
          <p:cNvSpPr txBox="1"/>
          <p:nvPr>
            <p:ph idx="1" type="body"/>
          </p:nvPr>
        </p:nvSpPr>
        <p:spPr>
          <a:xfrm>
            <a:off x="1097275" y="2108200"/>
            <a:ext cx="5323200" cy="2306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US" sz="2500"/>
              <a:t>Limit depth, splitting and buckets</a:t>
            </a:r>
            <a:endParaRPr sz="25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2500"/>
              <a:t>Grid search of the parameters</a:t>
            </a:r>
            <a:endParaRPr sz="25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2500"/>
              <a:t>duration, month and previous outcome are the important variables</a:t>
            </a:r>
            <a:endParaRPr sz="2500"/>
          </a:p>
        </p:txBody>
      </p:sp>
      <p:graphicFrame>
        <p:nvGraphicFramePr>
          <p:cNvPr id="353" name="Google Shape;353;g2af0c9aec43_0_10"/>
          <p:cNvGraphicFramePr/>
          <p:nvPr/>
        </p:nvGraphicFramePr>
        <p:xfrm>
          <a:off x="1097275" y="441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{3DAD2697-9DF6-4156-B071-8FEAC02B5772}</a:tableStyleId>
              </a:tblPr>
              <a:tblGrid>
                <a:gridCol w="1400650"/>
                <a:gridCol w="1127900"/>
                <a:gridCol w="1147375"/>
              </a:tblGrid>
              <a:tr h="64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           TRUTH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Subscribed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Subscribed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0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Subscribed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subscribed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896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54" name="Google Shape;354;g2af0c9aec43_0_10"/>
          <p:cNvCxnSpPr/>
          <p:nvPr/>
        </p:nvCxnSpPr>
        <p:spPr>
          <a:xfrm>
            <a:off x="1097275" y="4418225"/>
            <a:ext cx="1407900" cy="64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af0c9aec43_0_21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Tree a posteriori</a:t>
            </a:r>
            <a:endParaRPr/>
          </a:p>
        </p:txBody>
      </p:sp>
      <p:pic>
        <p:nvPicPr>
          <p:cNvPr id="360" name="Google Shape;360;g2af0c9aec43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1625" y="2108200"/>
            <a:ext cx="7034824" cy="400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2af0c9aec43_0_21"/>
          <p:cNvSpPr txBox="1"/>
          <p:nvPr>
            <p:ph idx="1" type="body"/>
          </p:nvPr>
        </p:nvSpPr>
        <p:spPr>
          <a:xfrm>
            <a:off x="1097275" y="2108200"/>
            <a:ext cx="4387200" cy="25239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Build full tree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Prune when improvement stops</a:t>
            </a:r>
            <a:endParaRPr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2500"/>
              <a:t>duration, month, job, previous outcome and balance are the important variables</a:t>
            </a:r>
            <a:endParaRPr/>
          </a:p>
        </p:txBody>
      </p:sp>
      <p:graphicFrame>
        <p:nvGraphicFramePr>
          <p:cNvPr id="362" name="Google Shape;362;g2af0c9aec43_0_21"/>
          <p:cNvGraphicFramePr/>
          <p:nvPr/>
        </p:nvGraphicFramePr>
        <p:xfrm>
          <a:off x="1097275" y="441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{3DAD2697-9DF6-4156-B071-8FEAC02B5772}</a:tableStyleId>
              </a:tblPr>
              <a:tblGrid>
                <a:gridCol w="1400650"/>
                <a:gridCol w="1127900"/>
                <a:gridCol w="1147375"/>
              </a:tblGrid>
              <a:tr h="64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           TRUTH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Subscribed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Subscribed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0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Subscribed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subscribed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970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63" name="Google Shape;363;g2af0c9aec43_0_21"/>
          <p:cNvCxnSpPr/>
          <p:nvPr/>
        </p:nvCxnSpPr>
        <p:spPr>
          <a:xfrm>
            <a:off x="1097275" y="4418225"/>
            <a:ext cx="1407900" cy="64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af0c9aec43_0_34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Tree ensemble</a:t>
            </a:r>
            <a:endParaRPr/>
          </a:p>
        </p:txBody>
      </p:sp>
      <p:pic>
        <p:nvPicPr>
          <p:cNvPr id="369" name="Google Shape;369;g2af0c9aec43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746" y="2108200"/>
            <a:ext cx="6044929" cy="376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2af0c9aec43_0_34"/>
          <p:cNvSpPr txBox="1"/>
          <p:nvPr>
            <p:ph idx="1" type="body"/>
          </p:nvPr>
        </p:nvSpPr>
        <p:spPr>
          <a:xfrm>
            <a:off x="1097275" y="2108200"/>
            <a:ext cx="4216800" cy="23100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US"/>
              <a:t>Lose interpretability</a:t>
            </a:r>
            <a:endParaRPr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2500"/>
              <a:t>age, job, balance, day, month, duration and previous outcome </a:t>
            </a:r>
            <a:r>
              <a:rPr lang="en-US" sz="2500"/>
              <a:t>are the important variables</a:t>
            </a:r>
            <a:endParaRPr/>
          </a:p>
        </p:txBody>
      </p:sp>
      <p:graphicFrame>
        <p:nvGraphicFramePr>
          <p:cNvPr id="371" name="Google Shape;371;g2af0c9aec43_0_34"/>
          <p:cNvGraphicFramePr/>
          <p:nvPr/>
        </p:nvGraphicFramePr>
        <p:xfrm>
          <a:off x="1097275" y="441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{3DAD2697-9DF6-4156-B071-8FEAC02B5772}</a:tableStyleId>
              </a:tblPr>
              <a:tblGrid>
                <a:gridCol w="1400650"/>
                <a:gridCol w="1127900"/>
                <a:gridCol w="1147375"/>
              </a:tblGrid>
              <a:tr h="64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           TRUTH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Subscribed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Subscribed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0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Subscribed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subscribed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1092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72" name="Google Shape;372;g2af0c9aec43_0_34"/>
          <p:cNvCxnSpPr/>
          <p:nvPr/>
        </p:nvCxnSpPr>
        <p:spPr>
          <a:xfrm>
            <a:off x="1097275" y="4418225"/>
            <a:ext cx="1407900" cy="64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afca4ca2e4_0_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g2afca4ca2e4_0_0"/>
          <p:cNvCxnSpPr/>
          <p:nvPr/>
        </p:nvCxnSpPr>
        <p:spPr>
          <a:xfrm>
            <a:off x="1207658" y="4474741"/>
            <a:ext cx="987540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g2afca4ca2e4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Um conceito abstrato da genética" id="380" name="Google Shape;380;g2afca4ca2e4_0_0"/>
          <p:cNvPicPr preferRelativeResize="0"/>
          <p:nvPr/>
        </p:nvPicPr>
        <p:blipFill rotWithShape="1">
          <a:blip r:embed="rId3">
            <a:alphaModFix amt="35000"/>
          </a:blip>
          <a:srcRect b="19288" l="0" r="0" t="24458"/>
          <a:stretch/>
        </p:blipFill>
        <p:spPr>
          <a:xfrm>
            <a:off x="-1" y="1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2afca4ca2e4_0_0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aramond"/>
              <a:buNone/>
            </a:pPr>
            <a:r>
              <a:rPr lang="en-US" sz="8000">
                <a:solidFill>
                  <a:srgbClr val="FFFFFF"/>
                </a:solidFill>
              </a:rPr>
              <a:t>10</a:t>
            </a:r>
            <a:r>
              <a:rPr lang="en-US" sz="8000">
                <a:solidFill>
                  <a:srgbClr val="FFFFFF"/>
                </a:solidFill>
              </a:rPr>
              <a:t>. Linear Discriminant Analysis</a:t>
            </a:r>
            <a:endParaRPr/>
          </a:p>
        </p:txBody>
      </p:sp>
      <p:cxnSp>
        <p:nvCxnSpPr>
          <p:cNvPr id="382" name="Google Shape;382;g2afca4ca2e4_0_0"/>
          <p:cNvCxnSpPr/>
          <p:nvPr/>
        </p:nvCxnSpPr>
        <p:spPr>
          <a:xfrm>
            <a:off x="1207658" y="4474741"/>
            <a:ext cx="987540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g2afca4ca2e4_0_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>
              <a:alpha val="941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afca4ca2e4_0_52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44"/>
              <a:t>Dataset &amp; Coefficients of linear discriminants</a:t>
            </a:r>
            <a:r>
              <a:rPr lang="en-US"/>
              <a:t> </a:t>
            </a:r>
            <a:endParaRPr/>
          </a:p>
        </p:txBody>
      </p:sp>
      <p:sp>
        <p:nvSpPr>
          <p:cNvPr id="389" name="Google Shape;389;g2afca4ca2e4_0_52"/>
          <p:cNvSpPr txBox="1"/>
          <p:nvPr>
            <p:ph idx="1" type="body"/>
          </p:nvPr>
        </p:nvSpPr>
        <p:spPr>
          <a:xfrm>
            <a:off x="661675" y="1985350"/>
            <a:ext cx="5682600" cy="1220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US"/>
              <a:t>Since LDA requires a balanced dataset, we used ROSE function to balance our target column y. Giving the following results:</a:t>
            </a:r>
            <a:endParaRPr/>
          </a:p>
        </p:txBody>
      </p:sp>
      <p:graphicFrame>
        <p:nvGraphicFramePr>
          <p:cNvPr id="390" name="Google Shape;390;g2afca4ca2e4_0_52"/>
          <p:cNvGraphicFramePr/>
          <p:nvPr/>
        </p:nvGraphicFramePr>
        <p:xfrm>
          <a:off x="1097275" y="337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{3DAD2697-9DF6-4156-B071-8FEAC02B5772}</a:tableStyleId>
              </a:tblPr>
              <a:tblGrid>
                <a:gridCol w="1628875"/>
                <a:gridCol w="1628875"/>
                <a:gridCol w="1628875"/>
              </a:tblGrid>
              <a:tr h="6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Y=no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Y=yes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6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Before ROSE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3202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414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6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After ROSE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1809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1807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91" name="Google Shape;391;g2afca4ca2e4_0_52"/>
          <p:cNvGraphicFramePr/>
          <p:nvPr/>
        </p:nvGraphicFramePr>
        <p:xfrm>
          <a:off x="7151075" y="221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{3DAD2697-9DF6-4156-B071-8FEAC02B5772}</a:tableStyleId>
              </a:tblPr>
              <a:tblGrid>
                <a:gridCol w="2304950"/>
                <a:gridCol w="1699650"/>
              </a:tblGrid>
              <a:tr h="4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LD1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age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0.06531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balance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0.27830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day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-0.00855</a:t>
                      </a:r>
                      <a:endParaRPr sz="18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duration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0.948793</a:t>
                      </a:r>
                      <a:endParaRPr sz="18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4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campaign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-0.10630</a:t>
                      </a:r>
                      <a:endParaRPr sz="18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4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previous</a:t>
                      </a:r>
                      <a:endParaRPr sz="18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0.13450</a:t>
                      </a:r>
                      <a:endParaRPr sz="1800">
                        <a:solidFill>
                          <a:schemeClr val="dk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afca4ca2e4_0_29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Stacked Histogram</a:t>
            </a:r>
            <a:endParaRPr/>
          </a:p>
        </p:txBody>
      </p:sp>
      <p:pic>
        <p:nvPicPr>
          <p:cNvPr id="397" name="Google Shape;397;g2afca4ca2e4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325" y="2273703"/>
            <a:ext cx="5400675" cy="3057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8" name="Google Shape;398;g2afca4ca2e4_0_29"/>
          <p:cNvGraphicFramePr/>
          <p:nvPr/>
        </p:nvGraphicFramePr>
        <p:xfrm>
          <a:off x="7079275" y="312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{3DAD2697-9DF6-4156-B071-8FEAC02B5772}</a:tableStyleId>
              </a:tblPr>
              <a:tblGrid>
                <a:gridCol w="1358800"/>
                <a:gridCol w="1358800"/>
                <a:gridCol w="1358800"/>
              </a:tblGrid>
              <a:tr h="64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</a:t>
                      </a:r>
                      <a:endParaRPr sz="23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Yes</a:t>
                      </a:r>
                      <a:endParaRPr sz="23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64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No</a:t>
                      </a:r>
                      <a:endParaRPr sz="23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572</a:t>
                      </a:r>
                      <a:endParaRPr sz="23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226</a:t>
                      </a:r>
                      <a:endParaRPr sz="23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  <a:tr h="64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Yes</a:t>
                      </a:r>
                      <a:endParaRPr sz="23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24</a:t>
                      </a:r>
                      <a:endParaRPr sz="23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83</a:t>
                      </a:r>
                      <a:endParaRPr sz="23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9" name="Google Shape;399;g2afca4ca2e4_0_29"/>
          <p:cNvSpPr txBox="1"/>
          <p:nvPr/>
        </p:nvSpPr>
        <p:spPr>
          <a:xfrm>
            <a:off x="7213075" y="2396525"/>
            <a:ext cx="38088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CONFUSION MATRIX</a:t>
            </a:r>
            <a:endParaRPr sz="2400">
              <a:solidFill>
                <a:srgbClr val="3F3F3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afca4ca2e4_0_10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44"/>
              <a:t> Probability Classification: Key assumptions</a:t>
            </a:r>
            <a:endParaRPr sz="5000"/>
          </a:p>
        </p:txBody>
      </p:sp>
      <p:sp>
        <p:nvSpPr>
          <p:cNvPr id="405" name="Google Shape;405;g2afca4ca2e4_0_10"/>
          <p:cNvSpPr txBox="1"/>
          <p:nvPr>
            <p:ph idx="1" type="body"/>
          </p:nvPr>
        </p:nvSpPr>
        <p:spPr>
          <a:xfrm>
            <a:off x="1097275" y="2289725"/>
            <a:ext cx="3381600" cy="34959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-US" sz="3000"/>
              <a:t>U</a:t>
            </a:r>
            <a:r>
              <a:rPr lang="en-US" sz="3000"/>
              <a:t>nivariate distribution </a:t>
            </a:r>
            <a:endParaRPr sz="3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406" name="Google Shape;406;g2afca4ca2e4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125" y="1958700"/>
            <a:ext cx="674370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afca4ca2e4_0_64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44"/>
              <a:t>Probability Classification: Key assumptions</a:t>
            </a:r>
            <a:endParaRPr/>
          </a:p>
        </p:txBody>
      </p:sp>
      <p:sp>
        <p:nvSpPr>
          <p:cNvPr id="412" name="Google Shape;412;g2afca4ca2e4_0_64"/>
          <p:cNvSpPr txBox="1"/>
          <p:nvPr>
            <p:ph idx="1" type="body"/>
          </p:nvPr>
        </p:nvSpPr>
        <p:spPr>
          <a:xfrm>
            <a:off x="1097275" y="2289725"/>
            <a:ext cx="10310400" cy="1450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Multivariate distribution: Royston test and Henze-Zirkler test:</a:t>
            </a:r>
            <a:endParaRPr sz="20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The primary goal of the Henze-Zirkler test is to evaluate whether the multivariate distribution of the data significantly deviates from a normal distribution.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000"/>
          </a:p>
        </p:txBody>
      </p:sp>
      <p:pic>
        <p:nvPicPr>
          <p:cNvPr id="413" name="Google Shape;413;g2afca4ca2e4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00" y="3824838"/>
            <a:ext cx="11544776" cy="79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2afca4ca2e4_0_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613" y="4803727"/>
            <a:ext cx="11544775" cy="709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afca4ca2e4_0_72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44"/>
              <a:t>Probability Classification: Key assumptions</a:t>
            </a:r>
            <a:endParaRPr/>
          </a:p>
        </p:txBody>
      </p:sp>
      <p:sp>
        <p:nvSpPr>
          <p:cNvPr id="420" name="Google Shape;420;g2afca4ca2e4_0_72"/>
          <p:cNvSpPr txBox="1"/>
          <p:nvPr>
            <p:ph idx="1" type="body"/>
          </p:nvPr>
        </p:nvSpPr>
        <p:spPr>
          <a:xfrm>
            <a:off x="1097275" y="2289725"/>
            <a:ext cx="10317900" cy="34959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Covariance Conditions: We perform a test of equality of covariance matrices for  the y=yes and y=no groups within data. The result is that covariance is not equal, so the test fails.</a:t>
            </a:r>
            <a:endParaRPr sz="3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afdea5d8e4_1_8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6" name="Google Shape;426;g2afdea5d8e4_1_8"/>
          <p:cNvCxnSpPr/>
          <p:nvPr/>
        </p:nvCxnSpPr>
        <p:spPr>
          <a:xfrm>
            <a:off x="1207658" y="4474741"/>
            <a:ext cx="987540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g2afdea5d8e4_1_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Um conceito abstrato da genética" id="428" name="Google Shape;428;g2afdea5d8e4_1_8"/>
          <p:cNvPicPr preferRelativeResize="0"/>
          <p:nvPr/>
        </p:nvPicPr>
        <p:blipFill rotWithShape="1">
          <a:blip r:embed="rId3">
            <a:alphaModFix amt="35000"/>
          </a:blip>
          <a:srcRect b="19288" l="0" r="0" t="24458"/>
          <a:stretch/>
        </p:blipFill>
        <p:spPr>
          <a:xfrm>
            <a:off x="-1" y="1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2afdea5d8e4_1_8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aramond"/>
              <a:buNone/>
            </a:pPr>
            <a:r>
              <a:rPr lang="en-US" sz="8000">
                <a:solidFill>
                  <a:srgbClr val="FFFFFF"/>
                </a:solidFill>
              </a:rPr>
              <a:t>Questions?</a:t>
            </a:r>
            <a:endParaRPr/>
          </a:p>
        </p:txBody>
      </p:sp>
      <p:cxnSp>
        <p:nvCxnSpPr>
          <p:cNvPr id="430" name="Google Shape;430;g2afdea5d8e4_1_8"/>
          <p:cNvCxnSpPr/>
          <p:nvPr/>
        </p:nvCxnSpPr>
        <p:spPr>
          <a:xfrm>
            <a:off x="1207658" y="4474741"/>
            <a:ext cx="987540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g2afdea5d8e4_1_8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rgbClr val="262626">
              <a:alpha val="941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Retrospect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8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2023-10-26T18:37:01Z</dcterms:created>
  <dc:creator>Nayara Costa</dc:creator>
</cp:coreProperties>
</file>